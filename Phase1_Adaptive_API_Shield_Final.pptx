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2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2" Type="http://schemas.openxmlformats.org/officeDocument/2006/relationships/slide" Target="slides/slide16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256032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3716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SIDDAGANGA INSTITUTE OF TECHNOLOGY, TUMKUR
</a:t>
            </a:r>
            <a:endParaRPr lang="en-US" sz="1900" dirty="0"/>
          </a:p>
          <a:p>
            <a:pPr algn="just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Department of Computer Science and Engineering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74320" y="16916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0C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HYBRID SMART API LIMITER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Adaptive Behavior-Based Rate Limiting and Abuse Detection System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8046720" cy="0"/>
          </a:xfrm>
          <a:prstGeom prst="line">
            <a:avLst/>
          </a:prstGeom>
          <a:noFill/>
          <a:ln w="1905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34290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(Batch: B10)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Kunal Vardiya — 1SI24CS089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Mukundan P — 1SI24CS106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Nitin Sharma — 1SI24CS118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Kuldeep Chouhan R — 1SI24CS214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46320" y="34290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A.V. Krishna Mohan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</a:t>
            </a:r>
            <a:endParaRPr lang="en-US" sz="1400" dirty="0"/>
          </a:p>
          <a:p>
            <a:pPr algn="just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Siddaganga Institute of Technology, Tumkur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Year: 2026–27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1307592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APIs are widely used to connect applications, services, and microservices.</a:t>
            </a:r>
            <a:endParaRPr lang="en-US" sz="1400" dirty="0"/>
          </a:p>
          <a:p>
            <a:pPr algn="just"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Excessive or abnormal API traffic can cause resource exhaustion, service degradation, and abuse.</a:t>
            </a:r>
            <a:endParaRPr lang="en-US" sz="1400" dirty="0"/>
          </a:p>
          <a:p>
            <a:pPr algn="just"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Conventional rate limiters generally apply fixed thresholds to clients.</a:t>
            </a:r>
            <a:endParaRPr lang="en-US" sz="1400" dirty="0"/>
          </a:p>
          <a:p>
            <a:pPr algn="just"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limits may treat legitimate traffic bursts and abusive traffic similarly.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350215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“A rate limiter should consider not only how much a client requests, but also how the client behaves over time.”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PROPOSED IDEA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45537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lightweight adaptive limiter that combines conventional rate limiting with behavioral risk assessment.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I — ADAPTIVE RATE LIMITING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6576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455371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research demonstrates that static thresholds can be improved using adaptive techniques, particularly ML/RL-based approaches.</a:t>
            </a:r>
            <a:endParaRPr lang="en-US" sz="13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078992"/>
          <a:ext cx="8412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502920"/>
                <a:gridCol w="164592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Research Title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to Our Project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N. Lyu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Multi-Objective Adaptive Rate Limiting in Microservices Using Deep Reinforcement Learning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Demonstrates dynamic rate adaptation in microservices using reinforcement learning.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the concept of adaptive rate limiting.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S. Sivaraman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Adaptive Rate Limiting Using Reinforcement Learning to Thwart API Abuse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RL can dynamically adjust rate-limiting thresholds against API abuse.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adaptive threshold selection.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O. Akande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Reinforcement Learning for Dynamic Rate Limiting in API Security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Demonstrates learning-based policies for dynamic API rate limiting.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intelligent and adaptive enforcement.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S. Sati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Adaptive Rate Limiting Against DDoS HTTP Flood Attacks Using Machine Learning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Uses ML-based adaptive limiting against HTTP flood attacks.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Connects machine learning with adaptive API protection.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II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II — API BEHAVIOUR &amp; ANOMALY DETECTION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65760" y="42336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TAKEAWAY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455371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3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research increasingly analyses API behaviour and traffic context rather than relying only on request counts.</a:t>
            </a:r>
            <a:endParaRPr lang="en-US" sz="13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1078992"/>
          <a:ext cx="8412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502920"/>
                <a:gridCol w="1645920"/>
                <a:gridCol w="19659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Authors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Research Title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Key Finding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Relevance to Our Project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Sowmya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API Traffic Anomaly Detection in Microservice Architecture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Detects anomalous API traffic in microservice environments.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behaviour-based traffic analysis.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Aharon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 Classification-by-Retrieval Framework for Few-Shot Anomaly Detection to Detect API Injection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Uses few-shot anomaly detection for identifying API injection.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API-specific anomaly detection.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Chang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Security Detection Algorithm Using CNN: Anomaly Detection for API Call Sequence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Detects anomalies using API call-sequence analysis.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behavioural sequence analysis.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A. Abibulaiev et al.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Context-Aware ML/NLP Pipeline for Real-Time Anomaly Detection and Risk Assessment in Cloud API Traffic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2026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Performs real-time API traffic anomaly detection and risk assessment.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Supports real-time behavioural risk assessment.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III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LITERATURE SURVEY III — RESEARCH GAP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365760" y="4142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GAP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4416552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system optimization</a:t>
            </a:r>
            <a:endParaRPr lang="en-US" sz="120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ML/RL-based detection</a:t>
            </a:r>
            <a:endParaRPr lang="en-US" sz="120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Distributed rate limiting</a:t>
            </a:r>
            <a:endParaRPr lang="en-US" sz="1200" dirty="0"/>
          </a:p>
          <a:p>
            <a:pPr algn="l" marL="177800" indent="-177800">
              <a:spcAft>
                <a:spcPts val="3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 attack detection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63440" y="4142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FOCUS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4434840"/>
            <a:ext cx="3749040" cy="123444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800600" y="450799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lightweight, explainable client-behaviour risk score integrated with conventional rate limiting and progressive enforcement.</a:t>
            </a:r>
            <a:endParaRPr lang="en-US" sz="1200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1033272"/>
          <a:ext cx="84124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244720"/>
                <a:gridCol w="2244720"/>
                <a:gridCol w="21399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Authors / Year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Existing Approach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Identified Gap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Research Question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Manoharan, 2024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Rate limiting for SaaS and DDoS protection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Limited focus on lightweight client behavioural analysis.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Can lightweight behaviour improve protection?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Caucidheesan et al., 2025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Accuracy and latency trade-offs in API gateway rate limiting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Security-performance trade-offs require further study.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What is the security-performance trade-off?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Tadi, 2023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Dynamic cross-cloud API traffic governance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Complex adaptive control may reduce explainability.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Can adaptive control remain simple and explainable?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Kalyanasundaram et al., 2025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Distributed API rate limiting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Focuses on distributed infrastructure rather than client-level behaviour.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Can adaptive policies complement conventional limiting?</a:t>
                      </a:r>
                    </a:p>
                  </a:txBody>
                  <a:tcPr anchor="ctr"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LIMITATIONS OF EXISTING SYSTEM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65760" y="1033272"/>
            <a:ext cx="3931920" cy="27889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65760" y="1033272"/>
            <a:ext cx="3931920" cy="36576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033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CONVENTIONAL FIXED RATE LIMITING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153619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threshold for clients with different behaviour</a:t>
            </a:r>
            <a:endParaRPr lang="en-US" sz="1300" dirty="0"/>
          </a:p>
          <a:p>
            <a:pPr algn="l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awareness of historical usage</a:t>
            </a:r>
            <a:endParaRPr lang="en-US" sz="1300" dirty="0"/>
          </a:p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Poor distinction between legitimate bursts and suspicious automation</a:t>
            </a:r>
            <a:endParaRPr lang="en-US" sz="1300" dirty="0"/>
          </a:p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policies may be too restrictive or too permissive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1033272"/>
            <a:ext cx="3931920" cy="27889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72000" y="1033272"/>
            <a:ext cx="3931920" cy="36576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663440" y="1033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COMPLEX ML/RL APPROACHES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09160" y="153619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Higher computational and implementation complexity</a:t>
            </a:r>
            <a:endParaRPr lang="en-US" sz="1300" dirty="0"/>
          </a:p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 training/data or more sophisticated infrastructure</a:t>
            </a:r>
            <a:endParaRPr lang="en-US" sz="1300" dirty="0"/>
          </a:p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interpretability for policy decisions</a:t>
            </a:r>
            <a:endParaRPr lang="en-US" sz="1300" dirty="0"/>
          </a:p>
          <a:p>
            <a:pPr algn="just" marL="177800" indent="-1778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May optimize system performance rather than client-level abuse behaviour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" y="4005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GOAL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4325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buNone/>
            </a:pPr>
            <a:r>
              <a:rPr lang="en-US" sz="14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“Balance security, fairness, explainability, and performance using lightweight behavioural signals.”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1280160"/>
            <a:ext cx="7863840" cy="9601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" y="13258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“Traditional fixed rate limiting cannot adequately distinguish legitimate high-volume traffic from abusive or anomalous client behaviour. A lightweight mechanism is required to dynamically adjust enforcement based on observed client behaviour while retaining the deterministic protection of conventional rate limiting.”</a:t>
            </a:r>
            <a:endParaRPr lang="en-US" sz="1250" dirty="0"/>
          </a:p>
        </p:txBody>
      </p:sp>
      <p:sp>
        <p:nvSpPr>
          <p:cNvPr id="60" name="Card 60"/>
          <p:cNvSpPr/>
          <p:nvPr/>
        </p:nvSpPr>
        <p:spPr>
          <a:xfrm>
            <a:off x="365760" y="2440000"/>
            <a:ext cx="4099320" cy="16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61" name="CardText 61"/>
          <p:cNvSpPr/>
          <p:nvPr/>
        </p:nvSpPr>
        <p:spPr>
          <a:xfrm>
            <a:off x="502920" y="2531440"/>
            <a:ext cx="3825000" cy="146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97D"/>
                </a:solidFill>
                <a:latin typeface="Bookman Old Style" pitchFamily="34" charset="0"/>
              </a:rPr>
              <a:t>FIXED THRESHOLDS</a:t>
            </a:r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</a:rPr>
              <a:t>Same threshold may be applied to clients with very different behaviour.</a:t>
            </a:r>
          </a:p>
        </p:txBody>
      </p:sp>
      <p:sp>
        <p:nvSpPr>
          <p:cNvPr id="62" name="Card 62"/>
          <p:cNvSpPr/>
          <p:nvPr/>
        </p:nvSpPr>
        <p:spPr>
          <a:xfrm>
            <a:off x="4678920" y="2440000"/>
            <a:ext cx="4099320" cy="16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63" name="CardText 63"/>
          <p:cNvSpPr/>
          <p:nvPr/>
        </p:nvSpPr>
        <p:spPr>
          <a:xfrm>
            <a:off x="4816080" y="2531440"/>
            <a:ext cx="3825000" cy="146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97D"/>
                </a:solidFill>
                <a:latin typeface="Bookman Old Style" pitchFamily="34" charset="0"/>
              </a:rPr>
              <a:t>LIMITED BEHAVIOURAL AWARENESS</a:t>
            </a:r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</a:rPr>
              <a:t>Conventional limiting does not sufficiently consider changing client behaviour.</a:t>
            </a:r>
          </a:p>
        </p:txBody>
      </p:sp>
      <p:sp>
        <p:nvSpPr>
          <p:cNvPr id="64" name="Card 64"/>
          <p:cNvSpPr/>
          <p:nvPr/>
        </p:nvSpPr>
        <p:spPr>
          <a:xfrm>
            <a:off x="365760" y="4303840"/>
            <a:ext cx="4099320" cy="16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65" name="CardText 65"/>
          <p:cNvSpPr/>
          <p:nvPr/>
        </p:nvSpPr>
        <p:spPr>
          <a:xfrm>
            <a:off x="502920" y="4395280"/>
            <a:ext cx="3825000" cy="146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97D"/>
                </a:solidFill>
                <a:latin typeface="Bookman Old Style" pitchFamily="34" charset="0"/>
              </a:rPr>
              <a:t>LEGITIMATE BURSTS VS. ABUSE</a:t>
            </a:r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</a:rPr>
              <a:t>High-volume traffic may be legitimate or malicious, making fixed thresholds difficult to tune.</a:t>
            </a:r>
          </a:p>
        </p:txBody>
      </p:sp>
      <p:sp>
        <p:nvSpPr>
          <p:cNvPr id="66" name="Card 66"/>
          <p:cNvSpPr/>
          <p:nvPr/>
        </p:nvSpPr>
        <p:spPr>
          <a:xfrm>
            <a:off x="4678920" y="4303840"/>
            <a:ext cx="4099320" cy="165000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67" name="CardText 67"/>
          <p:cNvSpPr/>
          <p:nvPr/>
        </p:nvSpPr>
        <p:spPr>
          <a:xfrm>
            <a:off x="4816080" y="4395280"/>
            <a:ext cx="3825000" cy="146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97D"/>
                </a:solidFill>
                <a:latin typeface="Bookman Old Style" pitchFamily="34" charset="0"/>
              </a:rPr>
              <a:t>NEED FOR ADAPTIVE ENFORCEMENT</a:t>
            </a:r>
          </a:p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</a:rPr>
              <a:t>Protection should respond to observed behaviour while retaining deterministic baseline protection.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9" name="Rounded Rectangle 8"/>
          <p:cNvSpPr/>
          <p:nvPr/>
        </p:nvSpPr>
        <p:spPr>
          <a:xfrm>
            <a:off x="365760" y="1650000"/>
            <a:ext cx="3886200" cy="1850200"/>
          </a:xfrm>
          <a:prstGeom prst="roundRect">
            <a:avLst/>
          </a:prstGeom>
          <a:solidFill>
            <a:srgbClr val="4F81B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760" y="1650000"/>
            <a:ext cx="3386200" cy="185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1. HYBRID ARCHITECTURE</a:t>
            </a:r>
          </a:p>
          <a:p>
            <a:pPr algn="ctr"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  <a:latin typeface="Times New Roman"/>
              </a:rPr>
              <a:t>Design a hybrid rate-limiting architecture combining deterministic token-bucket control with behavioural risk assessment.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650000"/>
            <a:ext cx="3886200" cy="1850200"/>
          </a:xfrm>
          <a:prstGeom prst="roundRect">
            <a:avLst/>
          </a:prstGeom>
          <a:solidFill>
            <a:srgbClr val="4F81B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2040" y="1650000"/>
            <a:ext cx="3386200" cy="185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2. BEHAVIOURAL RISK SCORE</a:t>
            </a:r>
          </a:p>
          <a:p>
            <a:pPr algn="ctr"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  <a:latin typeface="Times New Roman"/>
              </a:rPr>
              <a:t>Develop an interpretable client-behaviour risk score using request rate, burst intensity, failure rate, and endpoint concentration.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850000"/>
            <a:ext cx="3886200" cy="1850200"/>
          </a:xfrm>
          <a:prstGeom prst="roundRect">
            <a:avLst/>
          </a:prstGeom>
          <a:solidFill>
            <a:srgbClr val="4F81B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760" y="3850000"/>
            <a:ext cx="3386200" cy="185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3. PROGRESSIVE ENFORCEMENT</a:t>
            </a:r>
          </a:p>
          <a:p>
            <a:pPr algn="ctr"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  <a:latin typeface="Times New Roman"/>
              </a:rPr>
              <a:t>Dynamically adapt API enforcement through progressive states: NORMAL → MONITORED → THROTTLED → BLOCKED.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850000"/>
            <a:ext cx="3886200" cy="1850200"/>
          </a:xfrm>
          <a:prstGeom prst="roundRect">
            <a:avLst/>
          </a:prstGeom>
          <a:solidFill>
            <a:srgbClr val="4F81B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2040" y="3850000"/>
            <a:ext cx="3386200" cy="185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ookman Old Style"/>
              </a:rPr>
              <a:t>4. EVALUATION</a:t>
            </a:r>
          </a:p>
          <a:p>
            <a:pPr algn="ctr">
              <a:spcBef>
                <a:spcPts val="800"/>
              </a:spcBef>
            </a:pPr>
            <a:r>
              <a:rPr sz="1000" b="0">
                <a:solidFill>
                  <a:srgbClr val="FFFFFF"/>
                </a:solidFill>
                <a:latin typeface="Times New Roman"/>
              </a:rPr>
              <a:t>Evaluate the proposed approach against conventional static rate limiting in terms of security, fairness, performance, and overhead.</a:t>
            </a:r>
          </a:p>
        </p:txBody>
      </p:sp>
      <p:sp>
        <p:nvSpPr>
          <p:cNvPr id="70" name="EvalFooter"/>
          <p:cNvSpPr/>
          <p:nvPr/>
        </p:nvSpPr>
        <p:spPr>
          <a:xfrm>
            <a:off x="365760" y="5850000"/>
            <a:ext cx="84124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497D"/>
                </a:solidFill>
                <a:latin typeface="Bookman Old Style" pitchFamily="34" charset="0"/>
              </a:rPr>
              <a:t>Evaluation Parameters: </a:t>
            </a:r>
            <a:r>
              <a:rPr lang="en-US" sz="1150" dirty="0">
                <a:solidFill>
                  <a:srgbClr val="000000"/>
                </a:solidFill>
                <a:latin typeface="Times New Roman" pitchFamily="34" charset="0"/>
              </a:rPr>
              <a:t>Legitimate traffic blocking • Malicious traffic acceptance • Adaptation/recovery time • Latency &amp; throughput • CPU/memory overhead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ARCHITECTURE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1005840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MAIN REQUEST PATH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261872"/>
            <a:ext cx="1783080" cy="64008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760" y="1261872"/>
            <a:ext cx="1783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167128" y="1499616"/>
            <a:ext cx="21945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404872" y="1261872"/>
            <a:ext cx="1783080" cy="64008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404872" y="1261872"/>
            <a:ext cx="1783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GATEWAY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CACHE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1499616"/>
            <a:ext cx="21945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443984" y="1261872"/>
            <a:ext cx="1783080" cy="64008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443984" y="1261872"/>
            <a:ext cx="1783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BUCKET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(FAST PATH)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45352" y="1499616"/>
            <a:ext cx="21945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83096" y="1261872"/>
            <a:ext cx="1783080" cy="64008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483096" y="1261872"/>
            <a:ext cx="17830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294436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ADAPTIVE TELEMETRY / POLICY-FEEDBACK PATH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218688"/>
            <a:ext cx="1463040" cy="777240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5760" y="3218688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56232" y="3525012"/>
            <a:ext cx="17373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2057400" y="3218688"/>
            <a:ext cx="1463040" cy="777240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057400" y="3218688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47872" y="3525012"/>
            <a:ext cx="17373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3749040" y="3218688"/>
            <a:ext cx="1463040" cy="777240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3749040" y="3218688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239512" y="3525012"/>
            <a:ext cx="17373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5440680" y="3218688"/>
            <a:ext cx="1463040" cy="777240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40680" y="3218688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/ POLICY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931152" y="3525012"/>
            <a:ext cx="173736" cy="164592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7132320" y="3218688"/>
            <a:ext cx="1463040" cy="777240"/>
          </a:xfrm>
          <a:prstGeom prst="rect">
            <a:avLst/>
          </a:prstGeom>
          <a:solidFill>
            <a:srgbClr val="1C7293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7132320" y="3218688"/>
            <a:ext cx="14630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 POLICY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975458" y="1901952"/>
            <a:ext cx="0" cy="1316736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558138" y="1956816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telemetry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863840" y="2103120"/>
            <a:ext cx="0" cy="1115568"/>
          </a:xfrm>
          <a:prstGeom prst="line">
            <a:avLst/>
          </a:prstGeom>
          <a:noFill/>
          <a:ln w="19050">
            <a:solidFill>
              <a:srgbClr val="C0504D"/>
            </a:solidFill>
            <a:prstDash val="dash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3688690" y="2103120"/>
            <a:ext cx="4175150" cy="0"/>
          </a:xfrm>
          <a:prstGeom prst="line">
            <a:avLst/>
          </a:prstGeom>
          <a:noFill/>
          <a:ln w="19050">
            <a:solidFill>
              <a:srgbClr val="C0504D"/>
            </a:solidFill>
            <a:prstDash val="dash"/>
          </a:ln>
        </p:spPr>
        <p:txBody>
          <a:bodyPr/>
          <a:p/>
        </p:txBody>
      </p:sp>
      <p:sp>
        <p:nvSpPr>
          <p:cNvPr id="40" name="Shape 37"/>
          <p:cNvSpPr/>
          <p:nvPr/>
        </p:nvSpPr>
        <p:spPr>
          <a:xfrm>
            <a:off x="3688690" y="1901952"/>
            <a:ext cx="0" cy="201168"/>
          </a:xfrm>
          <a:prstGeom prst="line">
            <a:avLst/>
          </a:prstGeom>
          <a:noFill/>
          <a:ln w="19050">
            <a:solidFill>
              <a:srgbClr val="C0504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3761842" y="186537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05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update (feedback loop)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365760" y="4270248"/>
            <a:ext cx="786384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502920" y="427024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indent="0" marL="0">
              <a:buNone/>
            </a:pPr>
            <a:r>
              <a:rPr lang="en-US" sz="11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design principle: the telemetry and risk-processing path is asynchronous, while the gateway fast path remains lightweight and deterministic.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Workflow &amp; Algorithm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WORKFLOW &amp; ALGORITHM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1912000" y="4510000"/>
            <a:ext cx="1150000" cy="330000"/>
          </a:xfrm>
          <a:prstGeom prst="roundRect">
            <a:avLst>
              <a:gd name="adj" fmla="val 14286"/>
            </a:avLst>
          </a:prstGeom>
          <a:solidFill>
            <a:srgbClr val="4F81B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1912000" y="4510000"/>
            <a:ext cx="11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NORMAL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62000" y="4510000"/>
            <a:ext cx="24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302000" y="4510000"/>
            <a:ext cx="1150000" cy="330000"/>
          </a:xfrm>
          <a:prstGeom prst="roundRect">
            <a:avLst>
              <a:gd name="adj" fmla="val 14286"/>
            </a:avLst>
          </a:prstGeom>
          <a:solidFill>
            <a:srgbClr val="4F81B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3302000" y="4510000"/>
            <a:ext cx="11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MONITORED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452000" y="4510000"/>
            <a:ext cx="24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692000" y="4510000"/>
            <a:ext cx="1150000" cy="330000"/>
          </a:xfrm>
          <a:prstGeom prst="roundRect">
            <a:avLst>
              <a:gd name="adj" fmla="val 14286"/>
            </a:avLst>
          </a:prstGeom>
          <a:solidFill>
            <a:srgbClr val="4F81B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4692000" y="4510000"/>
            <a:ext cx="11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THROTTLED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42000" y="4510000"/>
            <a:ext cx="24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082000" y="4510000"/>
            <a:ext cx="1150000" cy="330000"/>
          </a:xfrm>
          <a:prstGeom prst="roundRect">
            <a:avLst>
              <a:gd name="adj" fmla="val 14286"/>
            </a:avLst>
          </a:prstGeom>
          <a:solidFill>
            <a:srgbClr val="C050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6082000" y="4510000"/>
            <a:ext cx="115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BLOCKED</a:t>
            </a:r>
            <a:endParaRPr lang="en-US" sz="1100" dirty="0"/>
          </a:p>
        </p:txBody>
      </p:sp>
      <p:sp>
        <p:nvSpPr>
          <p:cNvPr id="21" name="Rounded Rectangle 20"/>
          <p:cNvSpPr/>
          <p:nvPr/>
        </p:nvSpPr>
        <p:spPr>
          <a:xfrm>
            <a:off x="365760" y="1030000"/>
            <a:ext cx="420000" cy="52000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030000"/>
            <a:ext cx="4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760" y="1030000"/>
            <a:ext cx="790248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Bookman Old Style"/>
              </a:rPr>
              <a:t>OBSERVATION  —  </a:t>
            </a:r>
            <a:r>
              <a:rPr sz="1050" b="0">
                <a:solidFill>
                  <a:srgbClr val="404040"/>
                </a:solidFill>
                <a:latin typeface="Times New Roman"/>
              </a:rPr>
              <a:t>Observe client traffic in 1-second windows — request rate, peak burst intensity, upstream 4xx failure rate, endpoint concentration.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470760" y="1565000"/>
            <a:ext cx="210000" cy="90000"/>
          </a:xfrm>
          <a:prstGeom prst="down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1670000"/>
            <a:ext cx="420000" cy="38000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1670000"/>
            <a:ext cx="4200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760" y="1670000"/>
            <a:ext cx="790248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Bookman Old Style"/>
              </a:rPr>
              <a:t>BASELINE  —  </a:t>
            </a:r>
            <a:r>
              <a:rPr sz="1050" b="0">
                <a:solidFill>
                  <a:srgbClr val="404040"/>
                </a:solidFill>
                <a:latin typeface="Times New Roman"/>
              </a:rPr>
              <a:t>Maintain an EWMA baseline during normal client behaviour.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70760" y="2065000"/>
            <a:ext cx="210000" cy="90000"/>
          </a:xfrm>
          <a:prstGeom prst="down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5760" y="2170000"/>
            <a:ext cx="420000" cy="52000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170000"/>
            <a:ext cx="42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760" y="2170000"/>
            <a:ext cx="790248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Bookman Old Style"/>
              </a:rPr>
              <a:t>FEATURE EXTRACTION  —  </a:t>
            </a:r>
            <a:r>
              <a:rPr sz="1050" b="0">
                <a:solidFill>
                  <a:srgbClr val="404040"/>
                </a:solidFill>
                <a:latin typeface="Times New Roman"/>
              </a:rPr>
              <a:t>D = rate deviation, B = burst intensity, F = failure rate, C = endpoint concentration — all normalized to [0,1].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470760" y="2705000"/>
            <a:ext cx="210000" cy="90000"/>
          </a:xfrm>
          <a:prstGeom prst="down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" y="2810000"/>
            <a:ext cx="8412480" cy="560000"/>
          </a:xfrm>
          <a:prstGeom prst="roundRect">
            <a:avLst/>
          </a:prstGeom>
          <a:solidFill>
            <a:srgbClr val="93CCDD"/>
          </a:solidFill>
          <a:ln w="1905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0000" y="2850000"/>
            <a:ext cx="8200000" cy="2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Bookman Old Style"/>
              </a:rPr>
              <a:t>STEP 4 — RISK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3000000"/>
            <a:ext cx="841248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Times New Roman"/>
              </a:rPr>
              <a:t>Risk = 100 × (0.25D + 0.25B + 0.25F + 0.25C)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470760" y="3400000"/>
            <a:ext cx="210000" cy="90000"/>
          </a:xfrm>
          <a:prstGeom prst="down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3505000"/>
            <a:ext cx="420000" cy="38000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505000"/>
            <a:ext cx="4200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760" y="3505000"/>
            <a:ext cx="790248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Bookman Old Style"/>
              </a:rPr>
              <a:t>RISK EVALUATION  —  </a:t>
            </a:r>
            <a:r>
              <a:rPr sz="1050" b="0">
                <a:solidFill>
                  <a:srgbClr val="404040"/>
                </a:solidFill>
                <a:latin typeface="Times New Roman"/>
              </a:rPr>
              <a:t>Compare the calculated risk score with predefined policy thresholds.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470760" y="3900000"/>
            <a:ext cx="210000" cy="90000"/>
          </a:xfrm>
          <a:prstGeom prst="downArrow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5760" y="4005000"/>
            <a:ext cx="420000" cy="43000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005000"/>
            <a:ext cx="420000" cy="4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760" y="4005000"/>
            <a:ext cx="7902480" cy="43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Bookman Old Style"/>
              </a:rPr>
              <a:t>POLICY SELECTION  —  </a:t>
            </a:r>
            <a:r>
              <a:rPr sz="1050" b="0">
                <a:solidFill>
                  <a:srgbClr val="404040"/>
                </a:solidFill>
                <a:latin typeface="Times New Roman"/>
              </a:rPr>
              <a:t>Select the enforcement state using risk thresholds, hysteresis, and minimum dwell time.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4975000"/>
            <a:ext cx="420000" cy="38000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975000"/>
            <a:ext cx="42000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Bookman Old Style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760" y="4975000"/>
            <a:ext cx="7902480" cy="3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Bookman Old Style"/>
              </a:rPr>
              <a:t>RECOVERY  —  </a:t>
            </a:r>
            <a:r>
              <a:rPr sz="1050" b="0">
                <a:solidFill>
                  <a:srgbClr val="404040"/>
                </a:solidFill>
                <a:latin typeface="Times New Roman"/>
              </a:rPr>
              <a:t>When abnormal behaviour stops, access is progressively restored.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36576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353312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REST APIs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Microservice architectures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SaaS platforms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 APIs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/ service APIs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Developer platforms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Resource-constrained API gateways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SOCIETAL / PRACTICAL IMPACT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17720" y="1353312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impact of API abuse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Protects shared computing resources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Helps maintain service availability</a:t>
            </a:r>
            <a:endParaRPr lang="en-US" sz="1250" dirty="0"/>
          </a:p>
          <a:p>
            <a:pPr algn="just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unnecessary blocking of legitimate traffic</a:t>
            </a:r>
            <a:endParaRPr lang="en-US" sz="1250" dirty="0"/>
          </a:p>
          <a:p>
            <a:pPr algn="l" marL="177800" indent="-1778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Provides explainable enforcement decisions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REQUIREMENTS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36576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128016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laptop/PC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Minimum 8 GB RAM recommended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connectivity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128016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/ appropriate backend framework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Git/GitHub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Locust for traffic generation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testing tool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Browser-based monitoring/dashboard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6576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298448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marL="177800" indent="-1778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rate limiting provides deterministic protection but has limited behavioural awareness.</a:t>
            </a:r>
            <a:endParaRPr lang="en-US" sz="1250" dirty="0"/>
          </a:p>
          <a:p>
            <a:pPr algn="just" marL="177800" indent="-1778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Hybrid Smart API Limiter combines conventional rate limiting with lightweight behavioural risk scoring.</a:t>
            </a:r>
            <a:endParaRPr lang="en-US" sz="1250" dirty="0"/>
          </a:p>
          <a:p>
            <a:pPr algn="just" marL="177800" indent="-1778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Asynchronous processing keeps the gateway fast path simple.</a:t>
            </a:r>
            <a:endParaRPr lang="en-US" sz="1250" dirty="0"/>
          </a:p>
          <a:p>
            <a:pPr algn="just" marL="177800" indent="-1778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Progressive policies enable adaptive enforcement.</a:t>
            </a:r>
            <a:endParaRPr lang="en-US" sz="1250" dirty="0"/>
          </a:p>
          <a:p>
            <a:pPr algn="just" marL="177800" indent="-1778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Experiments will compare security, fairness, and performance against a static baseline.</a:t>
            </a:r>
            <a:endParaRPr lang="en-US" sz="1250" dirty="0"/>
          </a:p>
        </p:txBody>
      </p:sp>
      <p:sp>
        <p:nvSpPr>
          <p:cNvPr id="80" name="OutcomeBox"/>
          <p:cNvSpPr/>
          <p:nvPr/>
        </p:nvSpPr>
        <p:spPr>
          <a:xfrm>
            <a:off x="365760" y="3200000"/>
            <a:ext cx="7863840" cy="1300000"/>
          </a:xfrm>
          <a:prstGeom prst="rect">
            <a:avLst/>
          </a:prstGeom>
          <a:solidFill>
            <a:srgbClr val="F2F2F2"/>
          </a:solidFill>
          <a:ln w="6350">
            <a:solidFill>
              <a:srgbClr val="BBBBBB"/>
            </a:solidFill>
            <a:prstDash val="solid"/>
          </a:ln>
        </p:spPr>
        <p:txBody>
          <a:bodyPr/>
          <a:p/>
        </p:txBody>
      </p:sp>
      <p:sp>
        <p:nvSpPr>
          <p:cNvPr id="81" name="OutcomeText"/>
          <p:cNvSpPr/>
          <p:nvPr/>
        </p:nvSpPr>
        <p:spPr>
          <a:xfrm>
            <a:off x="548640" y="3320000"/>
            <a:ext cx="7498080" cy="10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497D"/>
                </a:solidFill>
                <a:latin typeface="Bookman Old Style" pitchFamily="34" charset="0"/>
              </a:rPr>
              <a:t>EXPECTED OUTCOME</a:t>
            </a:r>
          </a:p>
          <a:p>
            <a:pPr algn="just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Times New Roman" pitchFamily="34" charset="0"/>
              </a:rPr>
              <a:t>“A lightweight and explainable API protection mechanism that can adapt enforcement according to observed client behaviour while retaining deterministic baseline protection.”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987552"/>
            <a:ext cx="8412480" cy="543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N. Lyu et al., "Multi-Objective Adaptive Rate Limiting in Microservices Using Deep Reinforcement Learning," 2025. DOI: 10.1145/3778534.3778668.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S. Sivaraman, "Adaptive Rate Limiting Using Reinforcement Learning to Thwart API Abuse," 2023. DOI: 10.47363/JMCA/2023(2)E139.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O. Akande et al., "Reinforcement Learning for Dynamic Rate Limiting in API Security," 2025. DOI: 10.38124/ijisrt/25dec1155.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S. Sati et al., "Adaptive Rate Limiting Against DDoS HTTP Flood Attacks Using Machine Learning," 2025. DOI: 10.1109/3ict68299.2025.11442123.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Sowmya et al., "API Traffic Anomaly Detection in Microservice Architecture," 2023. DOI: 10.1109/ccgridw59191.2023.00044.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Aharon et al., "A Classification-by-Retrieval Framework for Few-Shot Anomaly Detection to Detect API Injection," 2024. DOI: 10.1016/j.cose.2024.104249.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Chang et al., "Security Detection Algorithm Using CNN: Anomaly Detection for API Call Sequence," 2025. DOI: 10.1177/14727978251318813.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 A. Abibulaiev et al., "Context-Aware ML/NLP Pipeline for Real-Time Anomaly Detection and Risk Assessment in Cloud API Traffic," 2026. DOI: 10.3390/make8010025.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[9] Manoharan, "API Rate Limiting Mechanisms in SaaS Applications: A Systematic Analysis of DDoS Protection Strategies," 2024. DOI: 10.32628/cseit241061223.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[10] Caucidheesan et al., "Analysing and Modelling the Accuracy and Latency Trade-offs in Rate Limiting on API-Gateway," 2025. DOI: 10.1109/scse65633.2025.11030994.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[11] Kalyanasundaram et al., "Load Balancer Filter-Based Approach To Enable Distributed API Rate Limiting," 2025. DOI: 10.23919/fruct65909.2025.11008311.</a:t>
            </a:r>
            <a:endParaRPr lang="en-US" sz="1050" dirty="0"/>
          </a:p>
          <a:p>
            <a:pPr algn="just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Tadi, "Cross-Cloud API Traffic Governance: Database-Aware Swarm Intelligence for Dynamic Rate Limiting in ASP.NET Core," 2023. DOI: 10.48175/ijarsct-11978.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09728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Execution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93CCDD"/>
          </a:solidFill>
          <a:ln w="12700">
            <a:solidFill>
              <a:srgbClr val="93CCDD"/>
            </a:solidFill>
            <a:prstDash val="solid"/>
          </a:ln>
        </p:spPr>
        <p:txBody>
          <a:bodyPr/>
          <a:p/>
        </p:txBody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" y="6528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Dept. of CSE, SIT, Tumkur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0" y="65105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572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EXECUTION PLAN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365760" y="850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EXECUTION PLAN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1250000"/>
            <a:ext cx="2560320" cy="90000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38912" y="1250000"/>
            <a:ext cx="2414016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I — 15–16 Sep 2026</a:t>
            </a:r>
            <a:endParaRPr lang="en-US" sz="1250" dirty="0"/>
          </a:p>
          <a:p>
            <a:pPr algn="just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survey, architecture, objectives, requirements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063240" y="1250000"/>
            <a:ext cx="2560320" cy="90000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3136392" y="1250000"/>
            <a:ext cx="2414016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II — 28–29 Oct 2026</a:t>
            </a:r>
            <a:endParaRPr lang="en-US" sz="1250" dirty="0"/>
          </a:p>
          <a:p>
            <a:pPr algn="just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Gateway, token bucket, telemetry, behavioural scoring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760720" y="1250000"/>
            <a:ext cx="2560320" cy="900000"/>
          </a:xfrm>
          <a:prstGeom prst="rect">
            <a:avLst/>
          </a:prstGeom>
          <a:solidFill>
            <a:srgbClr val="4F81BD"/>
          </a:solidFill>
          <a:ln w="9525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833872" y="1250000"/>
            <a:ext cx="2414016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III — 30 Nov–1 Dec 2026</a:t>
            </a:r>
            <a:endParaRPr lang="en-US" sz="1250" dirty="0"/>
          </a:p>
          <a:p>
            <a:pPr algn="just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Integration, experiments, comparison, documentation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65760" y="3200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0404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SCENARIOS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11480" y="35500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 traffic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Legitimate flash crowd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Sustained high traffic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17720" y="35500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Low-and-slow automation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Randomized automation</a:t>
            </a:r>
            <a:endParaRPr lang="en-US" sz="1200" dirty="0"/>
          </a:p>
          <a:p>
            <a:pPr algn="l" marL="177800" indent="-1778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Distributed clients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2026-09-14T05:35:43Z</dcterms:created>
  <dcterms:modified xsi:type="dcterms:W3CDTF">2026-09-14T05:35:43Z</dcterms:modified>
</cp:coreProperties>
</file>